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0A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>
        <p:scale>
          <a:sx n="98" d="100"/>
          <a:sy n="98" d="100"/>
        </p:scale>
        <p:origin x="3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89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3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474720" cy="347472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-548640"/>
            <a:ext cx="2286000" cy="2286000"/>
          </a:xfrm>
          <a:prstGeom prst="ellipse">
            <a:avLst/>
          </a:prstGeom>
          <a:solidFill>
            <a:srgbClr val="9B4F96"/>
          </a:solidFill>
          <a:ln w="12700">
            <a:solidFill>
              <a:srgbClr val="9B4F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3291840"/>
            <a:ext cx="2286000" cy="228600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POWER BI  |  SQL  |  EXCEL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Istanbul Shopping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Customer Behavior,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&amp; Revenue Trends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Istanbul Shopping Malls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3657600" cy="0"/>
          </a:xfrm>
          <a:prstGeom prst="line">
            <a:avLst/>
          </a:prstGeom>
          <a:noFill/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133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Ijeoma Okeke  |  Data Analyst  |  July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553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9194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4526280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4553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$251.5M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49194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2606040" cy="749808"/>
          </a:xfrm>
          <a:prstGeom prst="roundRect">
            <a:avLst>
              <a:gd name="adj" fmla="val 4878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4553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491947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6576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" y="1783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analytics project — from raw data to business decisions.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3200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34564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•  SQL  •  Power BI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560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Agenda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017520" y="10058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93008" y="12161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shopping data — 99,457 rows, 10 malls, Jan 2021–Mar 2023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6916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175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1645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Methodology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93008" y="19019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cleaning, SQL setup, DAX measures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17520" y="23774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3008" y="2331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93008" y="25877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category revenue, mall performance, payment methods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30632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3008" y="3017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93008" y="32735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 group, category preference, payment by 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0" y="37490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01752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93008" y="37033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93008" y="39593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YoY revenue, seasonal patterns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17520" y="4434840"/>
            <a:ext cx="365760" cy="36576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17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93008" y="4389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93008" y="464515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strategic actions for mall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Customer Shopping Dataset Istanbul  |  Jan 2021 – Mar 2023  |  99,457 rows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905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1993392" cy="868680"/>
          </a:xfrm>
          <a:prstGeom prst="roundRect">
            <a:avLst>
              <a:gd name="adj" fmla="val 4211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993392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27962"/>
            <a:ext cx="1993392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024128"/>
            <a:ext cx="1993392" cy="868680"/>
          </a:xfrm>
          <a:prstGeom prst="roundRect">
            <a:avLst>
              <a:gd name="adj" fmla="val 4211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42032" y="1097280"/>
            <a:ext cx="1993392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42032" y="1527962"/>
            <a:ext cx="1993392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1024128"/>
            <a:ext cx="1993392" cy="868680"/>
          </a:xfrm>
          <a:prstGeom prst="roundRect">
            <a:avLst>
              <a:gd name="adj" fmla="val 4211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18304" y="1097280"/>
            <a:ext cx="1993392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8304" y="1527962"/>
            <a:ext cx="1993392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1024128"/>
            <a:ext cx="1993392" cy="868680"/>
          </a:xfrm>
          <a:prstGeom prst="roundRect">
            <a:avLst>
              <a:gd name="adj" fmla="val 4211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94576" y="1097280"/>
            <a:ext cx="1993392" cy="477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Yrs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94576" y="1527962"/>
            <a:ext cx="1993392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11680"/>
            <a:ext cx="411480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 mixed date formats (DMY via Text to Columns)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816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zero missing values &amp; zero duplicates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1638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Standardized all column headers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5112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Revenue column = Quantity × Price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Created Age_Group column (5 descriptive bands)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06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Exported cleaned file as CSV for SQL &amp; Power BI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11480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Workflow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542032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542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date formatting, feature engineering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273552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273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SSMS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97880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queries across 99,457 rows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4005072"/>
            <a:ext cx="1005840" cy="274320"/>
          </a:xfrm>
          <a:prstGeom prst="roundRect">
            <a:avLst>
              <a:gd name="adj" fmla="val 10000"/>
            </a:avLst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4005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97880" y="4005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dashboard, 9 DAX measures, synced slicers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business performance across 99,457 transactions and 10 Istanbul shopping malls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905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572768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57276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$251.5M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74927"/>
            <a:ext cx="1572768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29968" y="1024128"/>
            <a:ext cx="1572768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9968" y="1097280"/>
            <a:ext cx="157276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29968" y="1474927"/>
            <a:ext cx="1572768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39896" y="1024128"/>
            <a:ext cx="1572768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9896" y="1097280"/>
            <a:ext cx="157276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298,712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9896" y="1474927"/>
            <a:ext cx="1572768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9824" y="1024128"/>
            <a:ext cx="1572768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097280"/>
            <a:ext cx="157276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99,457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9824" y="1474927"/>
            <a:ext cx="1572768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59752" y="1024128"/>
            <a:ext cx="1572768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9752" y="1097280"/>
            <a:ext cx="157276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$2,529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59752" y="1474927"/>
            <a:ext cx="1572768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7BD907F-34D0-DEC4-55FC-C3C27F78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52835"/>
            <a:ext cx="4216043" cy="18135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29E5E9B-61A1-2DCE-F08A-42304BD4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2835"/>
            <a:ext cx="4454701" cy="1577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across all 10 Istanbul shopping malls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905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89320" y="1024128"/>
            <a:ext cx="28346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9048" y="109728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Top 2 Malls = 40%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9048" y="137160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of Istanbul ($51M) and Kanyon ($51M) together account for ~40% of all revenue.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89320" y="2240280"/>
            <a:ext cx="28346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99048" y="231343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 Clothing #1 Everywhere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99048" y="258775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#1 revenue category in every single mall — no exceptions across all 10.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3456432"/>
            <a:ext cx="2834640" cy="1444752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99048" y="352958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Revenue Gap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99048" y="3803904"/>
            <a:ext cx="26151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mall ($51M) earns 4.6× more than the bottom mall ($11M). Significant performance spread between malls.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1ACCCF-B798-EF58-A860-1AAFFC45B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93" y="1097281"/>
            <a:ext cx="3898916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 — Gender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gender influence purchasing behavior and revenue contribution?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905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$150.2M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74927"/>
            <a:ext cx="201168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2011680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50592" y="109728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50592" y="1474927"/>
            <a:ext cx="201168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1024128"/>
            <a:ext cx="2011680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109728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$101.3M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81144" y="1474927"/>
            <a:ext cx="201168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11696" y="1024128"/>
            <a:ext cx="2011680" cy="777240"/>
          </a:xfrm>
          <a:prstGeom prst="roundRect">
            <a:avLst>
              <a:gd name="adj" fmla="val 4706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11696" y="109728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40.2%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11696" y="1474927"/>
            <a:ext cx="201168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Share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E99F5D-748C-0100-F4CC-66B356F93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64" y="1845741"/>
            <a:ext cx="4321437" cy="16434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053CC2-9646-A5EE-FD5A-DC5F166D0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701" y="1902409"/>
            <a:ext cx="4573319" cy="164340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A715E3A-13FB-9699-0AB4-FE3D7A9DF35A}"/>
              </a:ext>
            </a:extLst>
          </p:cNvPr>
          <p:cNvSpPr/>
          <p:nvPr/>
        </p:nvSpPr>
        <p:spPr>
          <a:xfrm>
            <a:off x="1208402" y="3894749"/>
            <a:ext cx="6727196" cy="1208285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8EE94-628E-137C-BBC7-A29AF0C7ECA8}"/>
              </a:ext>
            </a:extLst>
          </p:cNvPr>
          <p:cNvSpPr txBox="1"/>
          <p:nvPr/>
        </p:nvSpPr>
        <p:spPr>
          <a:xfrm>
            <a:off x="1348772" y="3851475"/>
            <a:ext cx="3249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mbria"/>
              </a:rPr>
              <a:t>💡 Key Insights — Gender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901A53-EFE9-D769-D891-E39103C252F7}"/>
              </a:ext>
            </a:extLst>
          </p:cNvPr>
          <p:cNvSpPr txBox="1"/>
          <p:nvPr/>
        </p:nvSpPr>
        <p:spPr>
          <a:xfrm>
            <a:off x="1402920" y="4095784"/>
            <a:ext cx="5769604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Female shoppers generate $150.2M (59.8%) — driven by higher shopping frequency, not higher spend per visit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F245B8-2A0C-6D20-9EA9-56269E1F268E}"/>
              </a:ext>
            </a:extLst>
          </p:cNvPr>
          <p:cNvSpPr txBox="1"/>
          <p:nvPr/>
        </p:nvSpPr>
        <p:spPr>
          <a:xfrm>
            <a:off x="1409406" y="427687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Male customers contribute $101.3M (40.2%) — a significant growth opportunity through targeted tech &amp; sports campaigns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EC15D6-5571-2875-743F-95B0C8DD970B}"/>
              </a:ext>
            </a:extLst>
          </p:cNvPr>
          <p:cNvSpPr txBox="1"/>
          <p:nvPr/>
        </p:nvSpPr>
        <p:spPr>
          <a:xfrm>
            <a:off x="1410061" y="4469035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Clothing is the #1 category for BOTH genders: Female $68M vs Male $46M — fashion is the universal driver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DC7C68-7C97-16F7-E6EA-7C7C1CF1010A}"/>
              </a:ext>
            </a:extLst>
          </p:cNvPr>
          <p:cNvSpPr txBox="1"/>
          <p:nvPr/>
        </p:nvSpPr>
        <p:spPr>
          <a:xfrm>
            <a:off x="1410055" y="465125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Technology has the narrowest gender gap (Female $35M vs Male $23M) — most evenly split category across genders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ECB565-D1ED-5501-4F6B-32617505D98C}"/>
              </a:ext>
            </a:extLst>
          </p:cNvPr>
          <p:cNvSpPr txBox="1"/>
          <p:nvPr/>
        </p:nvSpPr>
        <p:spPr>
          <a:xfrm>
            <a:off x="1416547" y="484445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Cosmetics revenue is almost entirely female-driven — male spend is negligible in this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B0A45"/>
                </a:solidFill>
                <a:latin typeface="Cambria"/>
              </a:rPr>
              <a:t>Customer Analysis — Age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Which age groups represent the most valuable customer segments?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59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Seniors 56+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Top Age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6312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$67.1M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Senior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1144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6864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$29M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Top vs Bottom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1696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57416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$38.1M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Youth Revenue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8830F2-7721-AC96-8070-245672982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3527540"/>
            <a:ext cx="5010392" cy="16159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AB0260-502F-66FB-F3F0-6AD7CE3EA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847089"/>
            <a:ext cx="5010394" cy="161595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1A9C561-5F32-D719-F814-F58399D2D3E2}"/>
              </a:ext>
            </a:extLst>
          </p:cNvPr>
          <p:cNvSpPr/>
          <p:nvPr/>
        </p:nvSpPr>
        <p:spPr>
          <a:xfrm>
            <a:off x="5700409" y="1828798"/>
            <a:ext cx="3022967" cy="3314701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4F448-8AA6-FF53-3109-B32D196FEC59}"/>
              </a:ext>
            </a:extLst>
          </p:cNvPr>
          <p:cNvSpPr txBox="1"/>
          <p:nvPr/>
        </p:nvSpPr>
        <p:spPr>
          <a:xfrm>
            <a:off x="5637664" y="1847089"/>
            <a:ext cx="32490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FFFFFF"/>
                </a:solidFill>
                <a:latin typeface="Cambria"/>
              </a:rPr>
              <a:t>💡 Key Insights — </a:t>
            </a:r>
            <a:r>
              <a:rPr lang="en-US" sz="1200" b="1" dirty="0">
                <a:solidFill>
                  <a:srgbClr val="FFFFFF"/>
                </a:solidFill>
                <a:latin typeface="Cambria"/>
              </a:rPr>
              <a:t>Age Group </a:t>
            </a:r>
            <a:r>
              <a:rPr sz="1200" b="1" i="0" dirty="0">
                <a:solidFill>
                  <a:srgbClr val="FFFFFF"/>
                </a:solidFill>
                <a:latin typeface="Cambria"/>
              </a:rPr>
              <a:t>Analysis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97F9AC-EE1D-8396-17DA-2ED0F83A82F4}"/>
              </a:ext>
            </a:extLst>
          </p:cNvPr>
          <p:cNvSpPr/>
          <p:nvPr/>
        </p:nvSpPr>
        <p:spPr>
          <a:xfrm>
            <a:off x="457200" y="941832"/>
            <a:ext cx="8229600" cy="0"/>
          </a:xfrm>
          <a:prstGeom prst="ellipse">
            <a:avLst/>
          </a:prstGeom>
          <a:ln w="12700">
            <a:solidFill>
              <a:srgbClr val="6B2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A5A0AF-5A6C-7423-62DA-D67F20509BD4}"/>
              </a:ext>
            </a:extLst>
          </p:cNvPr>
          <p:cNvSpPr txBox="1"/>
          <p:nvPr/>
        </p:nvSpPr>
        <p:spPr>
          <a:xfrm>
            <a:off x="5700409" y="2318455"/>
            <a:ext cx="312355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Seniors (56+) are the highest-spending group at $67.1M — yet the most underserved segment in retail marketing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A62ADC-D7AE-5A2C-D69E-397C5C30300B}"/>
              </a:ext>
            </a:extLst>
          </p:cNvPr>
          <p:cNvSpPr txBox="1"/>
          <p:nvPr/>
        </p:nvSpPr>
        <p:spPr>
          <a:xfrm>
            <a:off x="5752288" y="2996625"/>
            <a:ext cx="251323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Youth (18-25) contribute the least at $38.1M — a $29M gap between the top and bottom age groups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5DCC34-2EAB-6F91-6DC1-D7072C70C0C7}"/>
              </a:ext>
            </a:extLst>
          </p:cNvPr>
          <p:cNvSpPr txBox="1"/>
          <p:nvPr/>
        </p:nvSpPr>
        <p:spPr>
          <a:xfrm>
            <a:off x="5737180" y="3857516"/>
            <a:ext cx="298619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Seniors have the highest cash usage (12K transactions) — directly explaining the 44.69% overall cash dominance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608E9F-CCB1-8C16-89E8-EC037CFD1CF5}"/>
              </a:ext>
            </a:extLst>
          </p:cNvPr>
          <p:cNvSpPr txBox="1"/>
          <p:nvPr/>
        </p:nvSpPr>
        <p:spPr>
          <a:xfrm>
            <a:off x="5752288" y="4628965"/>
            <a:ext cx="317682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Middle Aged ($50M), Older Adults ($48M) and Young Adults ($48M) are tightly clustered with no clear leader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88DC-FD12-A293-DED1-A68DFF636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F8F44-0787-C631-8D84-86E9CEB9E249}"/>
              </a:ext>
            </a:extLst>
          </p:cNvPr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B0A45"/>
                </a:solidFill>
                <a:latin typeface="Cambria"/>
              </a:rPr>
              <a:t>Sales Trends &amp; Seasonality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626BF-8876-EAC5-7B05-65995A6F7841}"/>
              </a:ext>
            </a:extLst>
          </p:cNvPr>
          <p:cNvSpPr txBox="1"/>
          <p:nvPr/>
        </p:nvSpPr>
        <p:spPr>
          <a:xfrm>
            <a:off x="365760" y="658368"/>
            <a:ext cx="8412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8888"/>
                </a:solidFill>
                <a:latin typeface="Calibri"/>
              </a:rPr>
              <a:t>Revenue over time, seasonal peaks, YoY performance and data anomalies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6A684F-8654-2845-1FDA-94491DA3571E}"/>
              </a:ext>
            </a:extLst>
          </p:cNvPr>
          <p:cNvSpPr/>
          <p:nvPr/>
        </p:nvSpPr>
        <p:spPr>
          <a:xfrm>
            <a:off x="365760" y="896112"/>
            <a:ext cx="8412480" cy="0"/>
          </a:xfrm>
          <a:prstGeom prst="ellipse">
            <a:avLst/>
          </a:prstGeom>
          <a:ln w="19050">
            <a:solidFill>
              <a:srgbClr val="6B2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EA007-8337-A3A2-7A81-8304553E86BF}"/>
              </a:ext>
            </a:extLst>
          </p:cNvPr>
          <p:cNvSpPr/>
          <p:nvPr/>
        </p:nvSpPr>
        <p:spPr>
          <a:xfrm>
            <a:off x="320040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0E032-0716-A448-0CA9-86E826ADEE53}"/>
              </a:ext>
            </a:extLst>
          </p:cNvPr>
          <p:cNvSpPr txBox="1"/>
          <p:nvPr/>
        </p:nvSpPr>
        <p:spPr>
          <a:xfrm>
            <a:off x="365759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$251.5M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A1EED-709F-509E-88D2-6AF6AD109BFB}"/>
              </a:ext>
            </a:extLst>
          </p:cNvPr>
          <p:cNvSpPr txBox="1"/>
          <p:nvPr/>
        </p:nvSpPr>
        <p:spPr>
          <a:xfrm>
            <a:off x="365759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Total Revenue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F0C96-0A45-02FC-5929-11276A061F2B}"/>
              </a:ext>
            </a:extLst>
          </p:cNvPr>
          <p:cNvSpPr/>
          <p:nvPr/>
        </p:nvSpPr>
        <p:spPr>
          <a:xfrm>
            <a:off x="2450592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C1D2A-FF61-2607-FE82-F12451F6C4B8}"/>
              </a:ext>
            </a:extLst>
          </p:cNvPr>
          <p:cNvSpPr txBox="1"/>
          <p:nvPr/>
        </p:nvSpPr>
        <p:spPr>
          <a:xfrm>
            <a:off x="2496312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$115.4M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07125-77F3-A353-D3D5-018ED9BEB224}"/>
              </a:ext>
            </a:extLst>
          </p:cNvPr>
          <p:cNvSpPr txBox="1"/>
          <p:nvPr/>
        </p:nvSpPr>
        <p:spPr>
          <a:xfrm>
            <a:off x="2496312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Best Year 2022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21AF48-2735-54FB-309C-A5FCD078ECC5}"/>
              </a:ext>
            </a:extLst>
          </p:cNvPr>
          <p:cNvSpPr/>
          <p:nvPr/>
        </p:nvSpPr>
        <p:spPr>
          <a:xfrm>
            <a:off x="4581144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F9ABF-2748-B125-9AED-D0FC42625240}"/>
              </a:ext>
            </a:extLst>
          </p:cNvPr>
          <p:cNvSpPr txBox="1"/>
          <p:nvPr/>
        </p:nvSpPr>
        <p:spPr>
          <a:xfrm>
            <a:off x="4626864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$25.8M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D90FCA-D9BA-D7BA-942F-73E814A3BBA6}"/>
              </a:ext>
            </a:extLst>
          </p:cNvPr>
          <p:cNvSpPr txBox="1"/>
          <p:nvPr/>
        </p:nvSpPr>
        <p:spPr>
          <a:xfrm>
            <a:off x="4626864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Best Month Jan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619C16-2B93-D891-D412-1DFC2E8255B0}"/>
              </a:ext>
            </a:extLst>
          </p:cNvPr>
          <p:cNvSpPr/>
          <p:nvPr/>
        </p:nvSpPr>
        <p:spPr>
          <a:xfrm>
            <a:off x="6711696" y="987552"/>
            <a:ext cx="2011680" cy="749808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7E8C6F-16DA-ADB5-94E5-06A42EFA6075}"/>
              </a:ext>
            </a:extLst>
          </p:cNvPr>
          <p:cNvSpPr txBox="1"/>
          <p:nvPr/>
        </p:nvSpPr>
        <p:spPr>
          <a:xfrm>
            <a:off x="6757416" y="1042416"/>
            <a:ext cx="1920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99,457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3FB32D-B822-F5A8-E5C3-5638DC6AABB3}"/>
              </a:ext>
            </a:extLst>
          </p:cNvPr>
          <p:cNvSpPr txBox="1"/>
          <p:nvPr/>
        </p:nvSpPr>
        <p:spPr>
          <a:xfrm>
            <a:off x="6757416" y="1399946"/>
            <a:ext cx="1920240" cy="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C8A8D8"/>
                </a:solidFill>
                <a:latin typeface="Calibri"/>
              </a:rPr>
              <a:t>Total Transactions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402F09-760B-F068-24D7-2ECC60F91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94169"/>
            <a:ext cx="3841947" cy="14459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251F617-D945-1ED3-7EEE-84F4BF4B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3539326"/>
            <a:ext cx="3835597" cy="14161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79460-2635-378A-F232-794497C9A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990925"/>
            <a:ext cx="4361689" cy="146057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67E5EF2-592D-FA54-98D4-7A9EBE1E5638}"/>
              </a:ext>
            </a:extLst>
          </p:cNvPr>
          <p:cNvSpPr/>
          <p:nvPr/>
        </p:nvSpPr>
        <p:spPr>
          <a:xfrm>
            <a:off x="4319080" y="3539326"/>
            <a:ext cx="4824919" cy="1604171"/>
          </a:xfrm>
          <a:prstGeom prst="rect">
            <a:avLst/>
          </a:prstGeom>
          <a:solidFill>
            <a:srgbClr val="3B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3BF8CF-27FC-15CB-BF1F-7E4B59E70858}"/>
              </a:ext>
            </a:extLst>
          </p:cNvPr>
          <p:cNvSpPr txBox="1"/>
          <p:nvPr/>
        </p:nvSpPr>
        <p:spPr>
          <a:xfrm>
            <a:off x="4416552" y="3527950"/>
            <a:ext cx="35082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mbria"/>
              </a:rPr>
              <a:t>💡 Key Insights — Sales Trends &amp; Seasonality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D15888-283D-485E-1D14-2E7FCDDE4532}"/>
              </a:ext>
            </a:extLst>
          </p:cNvPr>
          <p:cNvSpPr txBox="1"/>
          <p:nvPr/>
        </p:nvSpPr>
        <p:spPr>
          <a:xfrm>
            <a:off x="4462272" y="3758783"/>
            <a:ext cx="4750340" cy="395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January is the strongest month at $25.8M — nearly $7M more than November ($18.7M). Plan premium launches in January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DC0579-789B-8B4A-D45B-7F543E22527F}"/>
              </a:ext>
            </a:extLst>
          </p:cNvPr>
          <p:cNvSpPr txBox="1"/>
          <p:nvPr/>
        </p:nvSpPr>
        <p:spPr>
          <a:xfrm>
            <a:off x="4462271" y="4080888"/>
            <a:ext cx="452608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2022 was the best full year at $115.4M — up 0.76% from 2021 ($114.6M). Revenue was stable and growing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AB8FAE-94F2-2C68-3A36-EDDCC372177D}"/>
              </a:ext>
            </a:extLst>
          </p:cNvPr>
          <p:cNvSpPr txBox="1"/>
          <p:nvPr/>
        </p:nvSpPr>
        <p:spPr>
          <a:xfrm>
            <a:off x="4463541" y="4353978"/>
            <a:ext cx="452481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Mid-year revenue dips to ~$19-20M in Jul–Aug — a clear window for targeted promotions and seasonal campaigns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4CC7B6-3016-B32A-C3DC-98337FC2B8EB}"/>
              </a:ext>
            </a:extLst>
          </p:cNvPr>
          <p:cNvSpPr txBox="1"/>
          <p:nvPr/>
        </p:nvSpPr>
        <p:spPr>
          <a:xfrm>
            <a:off x="4468756" y="4654044"/>
            <a:ext cx="458821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C8A8D8"/>
                </a:solidFill>
                <a:latin typeface="Calibri"/>
              </a:rPr>
              <a:t>•  ⚠ 2023 shows only $21.5M because dataset ends in March — this is a DATA issue, NOT a real business decline</a:t>
            </a:r>
          </a:p>
        </p:txBody>
      </p:sp>
    </p:spTree>
    <p:extLst>
      <p:ext uri="{BB962C8B-B14F-4D97-AF65-F5344CB8AC3E}">
        <p14:creationId xmlns:p14="http://schemas.microsoft.com/office/powerpoint/2010/main" val="42389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0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data-driven actions for Istanbul shopping mall management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1905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188720"/>
            <a:ext cx="347472" cy="347472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170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Clothing Dominance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5179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#1 in every mall. Expand premium tech zones to capture high avg order value ($11,581).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64608" y="1188720"/>
            <a:ext cx="347472" cy="347472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21808" y="11704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Senior Loyalty Programme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15179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(56+) are highest-spending yet underserved. Weekday discounts + accessible facilities.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" y="2514600"/>
            <a:ext cx="347472" cy="347472"/>
          </a:xfrm>
          <a:prstGeom prst="ellipse">
            <a:avLst/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514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6968" y="24963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Male Shoppers for Growth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284378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= 40% revenue. Tech &amp; sports campaigns can close the gender revenue gap.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64608" y="2514600"/>
            <a:ext cx="347472" cy="347472"/>
          </a:xfrm>
          <a:prstGeom prst="ellipse">
            <a:avLst/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2514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1808" y="24963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Payment Infrastructure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4378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44.69% cash is unexpectedly high. Incentivise card payments with loyalty points.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9768" y="3840480"/>
            <a:ext cx="347472" cy="347472"/>
          </a:xfrm>
          <a:prstGeom prst="ellipse">
            <a:avLst/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6968" y="38221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Campaign Planning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" y="416966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peaks at $25.8M. Plan premium events for January; promotions for Jul–Aug dip.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30752"/>
            <a:ext cx="4206240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8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64608" y="3840480"/>
            <a:ext cx="347472" cy="347472"/>
          </a:xfrm>
          <a:prstGeom prst="ellipse">
            <a:avLst/>
          </a:prstGeom>
          <a:solidFill>
            <a:srgbClr val="3B0A45"/>
          </a:solidFill>
          <a:ln w="12700">
            <a:solidFill>
              <a:srgbClr val="3B0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21808" y="38221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0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Top Customer Accounts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416966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each spent exactly $26,250 — statistically anomalous, needs investigation.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0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743200"/>
            <a:ext cx="3657600" cy="365760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-914400"/>
            <a:ext cx="2743200" cy="2743200"/>
          </a:xfrm>
          <a:prstGeom prst="ellipse">
            <a:avLst/>
          </a:prstGeom>
          <a:solidFill>
            <a:srgbClr val="6B2C91"/>
          </a:solidFill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5603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$251.5M Total Revenue  —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54680" y="9601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99,457 transactions in 10 malls — Jan 2021 to Mar 2023 (full 2021 &amp; 2022 data)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= Universal #1  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62763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revenue category in every single mall without exception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Seniors (56+) Lead Spending  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54680" y="229514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Highest-spending age group at $67M — yet chronically underserved by retail marketing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626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59.8% Female Revenue  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54680" y="296265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shoppers drive majority of revenue through higher shopping frequency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6301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44.69% Cash Payments  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363016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dominates in a modern urban mall — surprising and highly actionable finding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 Is Incomplete Data  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154680" y="429768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$22M in 2023 = Jan–Mar only. The sharp drop is a dataset issue, NOT a business decline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773168"/>
            <a:ext cx="5029200" cy="0"/>
          </a:xfrm>
          <a:prstGeom prst="line">
            <a:avLst/>
          </a:prstGeom>
          <a:noFill/>
          <a:ln w="12700">
            <a:solidFill>
              <a:srgbClr val="6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Ijeoma Okeke  |  Data Analyst  |  Istanbul Shopping Analytics Portfolio Project  |  July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1076</Words>
  <Application>Microsoft Office PowerPoint</Application>
  <PresentationFormat>On-screen Show (16:9)</PresentationFormat>
  <Paragraphs>169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Ijeoma Okeke</cp:lastModifiedBy>
  <cp:revision>2</cp:revision>
  <dcterms:created xsi:type="dcterms:W3CDTF">2026-07-26T21:00:11Z</dcterms:created>
  <dcterms:modified xsi:type="dcterms:W3CDTF">2026-07-27T07:35:25Z</dcterms:modified>
</cp:coreProperties>
</file>